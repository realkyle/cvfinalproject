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Parking Lot Occupancy Detector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AABBFF"/>
                </a:solidFill>
              </a:rPr>
              <a:t>Classical Computer Vision — No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Kyle Hale  &amp;  Jingyi Zhong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CCCFF"/>
                </a:solidFill>
              </a:rPr>
              <a:t>University of Washington — Computer Vision —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Parking lots are a significant urban resource — knowing occupancy in real time has direct practical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4767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Goal: given an overhead image, determine which parking spaces are OCCUPIED and which are EMPTY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780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Constraints: classical OpenCV only (no ML), static images, manual ROI definition per 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08376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Dataset: PKLot — overhead images from PUCPR (Brazil) under varied lighting and occupancy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38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Output: annotated image with red (occupied) / green (empty) polygons + count overlay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Detection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463040"/>
            <a:ext cx="1325880" cy="1005840"/>
          </a:xfrm>
          <a:prstGeom prst="rect">
            <a:avLst/>
          </a:prstGeom>
          <a:solidFill>
            <a:srgbClr val="D6E4F0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864"/>
                </a:solidFill>
              </a:rPr>
              <a:t>Input Image</a:t>
            </a:r>
          </a:p>
          <a:p>
            <a:pPr algn="ctr"/>
            <a:r>
              <a:rPr sz="1100">
                <a:solidFill>
                  <a:srgbClr val="444444"/>
                </a:solidFill>
              </a:rPr>
              <a:t>640×640 overhead JPEG</a:t>
            </a:r>
          </a:p>
        </p:txBody>
      </p:sp>
      <p:sp>
        <p:nvSpPr>
          <p:cNvPr id="5" name="Can 4"/>
          <p:cNvSpPr/>
          <p:nvPr/>
        </p:nvSpPr>
        <p:spPr>
          <a:xfrm>
            <a:off x="1554480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709928" y="1463040"/>
            <a:ext cx="1325880" cy="1005840"/>
          </a:xfrm>
          <a:prstGeom prst="rect">
            <a:avLst/>
          </a:prstGeom>
          <a:solidFill>
            <a:srgbClr val="D6E4F0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864"/>
                </a:solidFill>
              </a:rPr>
              <a:t>Grayscale</a:t>
            </a:r>
          </a:p>
          <a:p>
            <a:pPr algn="ctr"/>
            <a:r>
              <a:rPr sz="1100">
                <a:solidFill>
                  <a:srgbClr val="444444"/>
                </a:solidFill>
              </a:rPr>
              <a:t>cv::cvtColor</a:t>
            </a:r>
          </a:p>
        </p:txBody>
      </p:sp>
      <p:sp>
        <p:nvSpPr>
          <p:cNvPr id="7" name="Can 6"/>
          <p:cNvSpPr/>
          <p:nvPr/>
        </p:nvSpPr>
        <p:spPr>
          <a:xfrm>
            <a:off x="3035808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191256" y="1463040"/>
            <a:ext cx="1325880" cy="1005840"/>
          </a:xfrm>
          <a:prstGeom prst="rect">
            <a:avLst/>
          </a:prstGeom>
          <a:solidFill>
            <a:srgbClr val="D6E4F0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864"/>
                </a:solidFill>
              </a:rPr>
              <a:t>Gaussian Blur</a:t>
            </a:r>
          </a:p>
          <a:p>
            <a:pPr algn="ctr"/>
            <a:r>
              <a:rPr sz="1100">
                <a:solidFill>
                  <a:srgbClr val="444444"/>
                </a:solidFill>
              </a:rPr>
              <a:t>5×5 kernel, σ=1.5</a:t>
            </a:r>
          </a:p>
        </p:txBody>
      </p:sp>
      <p:sp>
        <p:nvSpPr>
          <p:cNvPr id="9" name="Can 8"/>
          <p:cNvSpPr/>
          <p:nvPr/>
        </p:nvSpPr>
        <p:spPr>
          <a:xfrm>
            <a:off x="4517136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72584" y="1463040"/>
            <a:ext cx="1325880" cy="1005840"/>
          </a:xfrm>
          <a:prstGeom prst="rect">
            <a:avLst/>
          </a:prstGeom>
          <a:solidFill>
            <a:srgbClr val="D6E4F0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864"/>
                </a:solidFill>
              </a:rPr>
              <a:t>ROI Extraction</a:t>
            </a:r>
          </a:p>
          <a:p>
            <a:pPr algn="ctr"/>
            <a:r>
              <a:rPr sz="1100">
                <a:solidFill>
                  <a:srgbClr val="444444"/>
                </a:solidFill>
              </a:rPr>
              <a:t>Polygon mask per space</a:t>
            </a:r>
          </a:p>
        </p:txBody>
      </p:sp>
      <p:sp>
        <p:nvSpPr>
          <p:cNvPr id="11" name="Can 10"/>
          <p:cNvSpPr/>
          <p:nvPr/>
        </p:nvSpPr>
        <p:spPr>
          <a:xfrm>
            <a:off x="5998464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53912" y="1463040"/>
            <a:ext cx="1325880" cy="100584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Canny Edge Count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low=50, high=150</a:t>
            </a:r>
          </a:p>
        </p:txBody>
      </p:sp>
      <p:sp>
        <p:nvSpPr>
          <p:cNvPr id="13" name="Can 12"/>
          <p:cNvSpPr/>
          <p:nvPr/>
        </p:nvSpPr>
        <p:spPr>
          <a:xfrm>
            <a:off x="7479792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35240" y="1463040"/>
            <a:ext cx="1325880" cy="100584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Intensity Variance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cv::meanStdDev</a:t>
            </a:r>
          </a:p>
        </p:txBody>
      </p:sp>
      <p:sp>
        <p:nvSpPr>
          <p:cNvPr id="15" name="Can 14"/>
          <p:cNvSpPr/>
          <p:nvPr/>
        </p:nvSpPr>
        <p:spPr>
          <a:xfrm>
            <a:off x="8961120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16568" y="1463040"/>
            <a:ext cx="1325880" cy="100584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Threshold + Label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edge &gt; T  OR  σ &gt; T</a:t>
            </a:r>
          </a:p>
        </p:txBody>
      </p:sp>
      <p:sp>
        <p:nvSpPr>
          <p:cNvPr id="17" name="Can 16"/>
          <p:cNvSpPr/>
          <p:nvPr/>
        </p:nvSpPr>
        <p:spPr>
          <a:xfrm>
            <a:off x="10442448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97896" y="1463040"/>
            <a:ext cx="1325880" cy="1005840"/>
          </a:xfrm>
          <a:prstGeom prst="rect">
            <a:avLst/>
          </a:prstGeom>
          <a:solidFill>
            <a:srgbClr val="D6E4F0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864"/>
                </a:solidFill>
              </a:rPr>
              <a:t>Save &amp; Display</a:t>
            </a:r>
          </a:p>
          <a:p>
            <a:pPr algn="ctr"/>
            <a:r>
              <a:rPr sz="1100">
                <a:solidFill>
                  <a:srgbClr val="444444"/>
                </a:solidFill>
              </a:rPr>
              <a:t>output/ + imshow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6060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</a:rPr>
              <a:t>Highlighted stages are the two dual-signal classifiers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Key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Canny Edge Detection — counts edge pixels within each parking space polygon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4767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444444"/>
                </a:solidFill>
              </a:rPr>
              <a:t>      • cv::Canny(roi, edges, 50, 150)  →  edgeCount = cv::countNonZero(edges)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780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Intensity Variance — measures pixel uniformity (empty pavement is spectrally uniform)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08376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444444"/>
                </a:solidFill>
              </a:rPr>
              <a:t>      • cv::meanStdDev(roi, mean, stddev, mask)  →  σ = stddev[0]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38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Dual-Signal Classification — OCCUPIED if edgeCount &gt; T₁  OR  σ &gt; T₂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0690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Per-Lot Threshold Calibration — run empty reference image, set T = max + 10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9943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Polygon ROI Masking — cv::fillConvexPoly isolates exact space interior from surroundings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ROI Definition — PUCPR 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43 parking spaces defined as quadrilateral polygons (not axis-aligned rectangles)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4767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PUCPR spaces are diagonally angled — polygons trace the actual painted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780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Polygons traced interactively using a custom OpenCV mouse-callback coordinate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08376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Polygon mask (cv::fillConvexPoly) ensures classification uses only interior pixels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38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ROIs placed inside painted lines to avoid line-marking edges inflating edge counts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0690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Calibration image: PUCPR3.jpg (empty lot) — zero false positives achieved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PUCPR (Empty Lot)</a:t>
            </a:r>
          </a:p>
        </p:txBody>
      </p:sp>
      <p:pic>
        <p:nvPicPr>
          <p:cNvPr id="4" name="Picture 3" descr="result_PUCPR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PUCPR3.jpg  |  Detected: 0 Occupied  /  43 Empty  |  Zero false positives on calibration image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PUCPR (Partially Occupied)</a:t>
            </a:r>
          </a:p>
        </p:txBody>
      </p:sp>
      <p:pic>
        <p:nvPicPr>
          <p:cNvPr id="4" name="Picture 3" descr="result_PUCPR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PUCPR1.jpg  |  Detected: 26 Occupied  /  17 Empty  |  Total spaces: 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PUCPR (Heavily Occupied)</a:t>
            </a:r>
          </a:p>
        </p:txBody>
      </p:sp>
      <p:pic>
        <p:nvPicPr>
          <p:cNvPr id="4" name="Picture 3" descr="result_PUCPR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PUCPR2.jpg  |  Detected: 32 Occupied  /  11 Empty  |  Total spaces: 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Accuracy Summary &amp;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1097280" cy="384048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Image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3040" y="1463040"/>
            <a:ext cx="1371600" cy="384048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Condition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834640" y="1463040"/>
            <a:ext cx="731520" cy="384048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Occ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463040"/>
            <a:ext cx="731520" cy="384048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Emp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731520" cy="384048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47088"/>
            <a:ext cx="10972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44444"/>
                </a:solidFill>
              </a:rPr>
              <a:t>PUCPR3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847088"/>
            <a:ext cx="13716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44444"/>
                </a:solidFill>
              </a:rPr>
              <a:t>Empty ref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4640" y="1847088"/>
            <a:ext cx="7315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1847088"/>
            <a:ext cx="7315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44444"/>
                </a:solidFill>
              </a:rPr>
              <a:t>43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847088"/>
            <a:ext cx="7315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44444"/>
                </a:solidFill>
              </a:rPr>
              <a:t>43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231136"/>
            <a:ext cx="1097280" cy="384048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44444"/>
                </a:solidFill>
              </a:rPr>
              <a:t>PUCPR1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2231136"/>
            <a:ext cx="1371600" cy="384048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44444"/>
                </a:solidFill>
              </a:rPr>
              <a:t>Partial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34640" y="2231136"/>
            <a:ext cx="731520" cy="384048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44444"/>
                </a:solidFill>
              </a:rPr>
              <a:t>26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2231136"/>
            <a:ext cx="731520" cy="384048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44444"/>
                </a:solidFill>
              </a:rPr>
              <a:t>17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231136"/>
            <a:ext cx="731520" cy="384048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44444"/>
                </a:solidFill>
              </a:rPr>
              <a:t>43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615184"/>
            <a:ext cx="1097280" cy="384048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44444"/>
                </a:solidFill>
              </a:rPr>
              <a:t>PUCPR2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2615184"/>
            <a:ext cx="1371600" cy="384048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44444"/>
                </a:solidFill>
              </a:rPr>
              <a:t>Heavy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34640" y="2615184"/>
            <a:ext cx="7315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44444"/>
                </a:solidFill>
              </a:rPr>
              <a:t>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66160" y="2615184"/>
            <a:ext cx="7315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44444"/>
                </a:solidFill>
              </a:rPr>
              <a:t>11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2615184"/>
            <a:ext cx="731520" cy="384048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0">
                <a:solidFill>
                  <a:srgbClr val="444444"/>
                </a:solidFill>
              </a:rPr>
              <a:t>43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2918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44444"/>
                </a:solidFill>
              </a:rPr>
              <a:t>  • Fundamental challenge: edge/σ distributions of empty textured spaces and low-contrast cars overlap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2219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44444"/>
                </a:solidFill>
              </a:rPr>
              <a:t>  • Canny(30,90) tested — empty-space max rose from 127→234, requiring threshold 244 (too high)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35254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44444"/>
                </a:solidFill>
              </a:rPr>
              <a:t>  • Dual-signal OR logic improves recall without increasing false positives on calibration image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882896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444444"/>
                </a:solidFill>
              </a:rPr>
              <a:t>  • Remaining errors are irreducible without a background reference or learned classifier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Complete ROI tracing for UFPR04 and third parking lot — full multi-lot results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4767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Automatic ROI detection via Hough line transform — no manual tracing for new lots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780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Background subtraction using registered empty-lot reference — eliminate shadow false positives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08376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Live video mode using cv::VideoCapture — real-time occupancy monitoring with FPS display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38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Lightweight ML classifier (SVM + HOG features) — higher accuracy ceiling than threshold-based approach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
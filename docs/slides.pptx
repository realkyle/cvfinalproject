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Parking Lot Occupancy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AABBFF"/>
                </a:solidFill>
              </a:rPr>
              <a:t>Classical Computer Vision — No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Kyle Hale  &amp;  Jingyi Zhong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CCCFF"/>
                </a:solidFill>
              </a:rPr>
              <a:t>University of Washington — Computer Vision —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Parking lots are a significant urban resource — knowing occupancy in real time has direct practical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Goal: given an overhead image, determine which parking spaces are OCCUPIED and which are EMPTY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Constraints: classical OpenCV only (no ML), static images, manual ROI definition per 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Dataset: PKLot — overhead images from PUCPR and UFPR04 (Brazil) under varied lighting and occupancy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38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Output: annotated image with red (occupied) / green (empty) polygons + count overlay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Detection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Input Image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640×640 overhead JPEG</a:t>
            </a:r>
          </a:p>
        </p:txBody>
      </p:sp>
      <p:sp>
        <p:nvSpPr>
          <p:cNvPr id="5" name="Can 4"/>
          <p:cNvSpPr/>
          <p:nvPr/>
        </p:nvSpPr>
        <p:spPr>
          <a:xfrm>
            <a:off x="1554480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09928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Grayscale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cv::cvtColor</a:t>
            </a:r>
          </a:p>
        </p:txBody>
      </p:sp>
      <p:sp>
        <p:nvSpPr>
          <p:cNvPr id="7" name="Can 6"/>
          <p:cNvSpPr/>
          <p:nvPr/>
        </p:nvSpPr>
        <p:spPr>
          <a:xfrm>
            <a:off x="3035808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191256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Gaussian Blur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5×5 kernel, σ=1.5</a:t>
            </a:r>
          </a:p>
        </p:txBody>
      </p:sp>
      <p:sp>
        <p:nvSpPr>
          <p:cNvPr id="9" name="Can 8"/>
          <p:cNvSpPr/>
          <p:nvPr/>
        </p:nvSpPr>
        <p:spPr>
          <a:xfrm>
            <a:off x="4517136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72584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ROI Extraction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Polygon mask per space</a:t>
            </a:r>
          </a:p>
        </p:txBody>
      </p:sp>
      <p:sp>
        <p:nvSpPr>
          <p:cNvPr id="11" name="Can 10"/>
          <p:cNvSpPr/>
          <p:nvPr/>
        </p:nvSpPr>
        <p:spPr>
          <a:xfrm>
            <a:off x="5998464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53912" y="1463040"/>
            <a:ext cx="1325880" cy="100584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Canny Edge Count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low=50, high=150</a:t>
            </a:r>
          </a:p>
        </p:txBody>
      </p:sp>
      <p:sp>
        <p:nvSpPr>
          <p:cNvPr id="13" name="Can 12"/>
          <p:cNvSpPr/>
          <p:nvPr/>
        </p:nvSpPr>
        <p:spPr>
          <a:xfrm>
            <a:off x="7479792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35240" y="1463040"/>
            <a:ext cx="1325880" cy="100584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Intensity Variance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cv::meanStdDev</a:t>
            </a:r>
          </a:p>
        </p:txBody>
      </p:sp>
      <p:sp>
        <p:nvSpPr>
          <p:cNvPr id="15" name="Can 14"/>
          <p:cNvSpPr/>
          <p:nvPr/>
        </p:nvSpPr>
        <p:spPr>
          <a:xfrm>
            <a:off x="8961120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16568" y="1463040"/>
            <a:ext cx="1325880" cy="100584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Threshold + Label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edge &gt; T  OR  σ &gt; T</a:t>
            </a:r>
          </a:p>
        </p:txBody>
      </p:sp>
      <p:sp>
        <p:nvSpPr>
          <p:cNvPr id="17" name="Can 16"/>
          <p:cNvSpPr/>
          <p:nvPr/>
        </p:nvSpPr>
        <p:spPr>
          <a:xfrm>
            <a:off x="10442448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97896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Save &amp; Display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output/ + imshow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6060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</a:rPr>
              <a:t>Highlighted stages are the two dual-signal classifiers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Key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Canny Edge Detection — counts edge pixels within each parking space polygon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    • cv::Canny(roi, edges, 50, 150)  →  edgeCount = cv::countNonZero(edges)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Intensity Variance — measures pixel uniformity (empty pavement is spectrally uniform)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    • cv::meanStdDev(roi, mean, stddev, mask)  →  σ = stddev[0]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38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Dual-Signal Classification — OCCUPIED if edgeCount &gt; T₁  OR  σ &gt; T₂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0690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Per-Lot Threshold Calibration — run empty reference image, set T = max + 10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9943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Polygon ROI Masking — cv::fillConvexPoly isolates exact space interior from surroundings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ROI Definition — Both 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Each space defined as a quadrilateral polygon — four corner points clicked interactively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Custom OpenCV label tool: click 4 corners → auto-completes polygon → press S to export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Polygon mask (cv::fillConvexPoly) ensures classification uses only interior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ROIs placed inside painted lines to avoid line-marking edges inflating edge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38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PUCPR: 43 spaces  |  UFPR04: 257 spaces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0690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Calibration: PUCPR3.jpg and UFPR1.jpg (empty references) — zero false positives on both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PUCPR (Empty Lot)</a:t>
            </a:r>
          </a:p>
        </p:txBody>
      </p:sp>
      <p:pic>
        <p:nvPicPr>
          <p:cNvPr id="4" name="Picture 3" descr="result_PUCPR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PUCPR3.jpg  |  Detected: 0 Occupied  /  43 Empty  |  Zero false positives on calibration image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PUCPR (Partially Occupied)</a:t>
            </a:r>
          </a:p>
        </p:txBody>
      </p:sp>
      <p:pic>
        <p:nvPicPr>
          <p:cNvPr id="4" name="Picture 3" descr="result_PUCPR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PUCPR1.jpg  |  Detected: 26 Occupied  /  17 Empty  |  Total spaces: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PUCPR (Heavily Occupied)</a:t>
            </a:r>
          </a:p>
        </p:txBody>
      </p:sp>
      <p:pic>
        <p:nvPicPr>
          <p:cNvPr id="4" name="Picture 3" descr="result_PUCPR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PUCPR2.jpg  |  Detected: 32 Occupied  /  11 Empty  |  Total spaces: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UFPR04 (Empty Lot)</a:t>
            </a:r>
          </a:p>
        </p:txBody>
      </p:sp>
      <p:pic>
        <p:nvPicPr>
          <p:cNvPr id="4" name="Picture 3" descr="result_UFPR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UFPR1.jpg  |  Detected: 0 Occupied  /  257 Empty  |  Zero false positives on calibration image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UFPR04 (Partially Occupied)</a:t>
            </a:r>
          </a:p>
        </p:txBody>
      </p:sp>
      <p:pic>
        <p:nvPicPr>
          <p:cNvPr id="4" name="Picture 3" descr="result_UFPR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UFPR2.jpg  |  Detected: 120 Occupied  /  137 Empty  |  Total spaces: 257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UFPR04 (Heavily Occupied)</a:t>
            </a:r>
          </a:p>
        </p:txBody>
      </p:sp>
      <p:pic>
        <p:nvPicPr>
          <p:cNvPr id="4" name="Picture 3" descr="result_UFPR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UFPR3.jpg  |  Detected: 212 Occupied  /  45 Empty  |  Total spaces: 257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Accuracy Summary &amp;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005840" cy="329184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463040"/>
            <a:ext cx="1005840" cy="329184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463040"/>
            <a:ext cx="1188720" cy="329184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Condition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463040"/>
            <a:ext cx="685800" cy="329184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Occ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463040"/>
            <a:ext cx="685800" cy="329184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Emp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463040"/>
            <a:ext cx="777240" cy="329184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92224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1792224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1792224"/>
            <a:ext cx="11887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Empty ref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1792224"/>
            <a:ext cx="68580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792224"/>
            <a:ext cx="68580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792224"/>
            <a:ext cx="7772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21408"/>
            <a:ext cx="100584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121408"/>
            <a:ext cx="100584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2121408"/>
            <a:ext cx="118872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Partial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121408"/>
            <a:ext cx="68580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2121408"/>
            <a:ext cx="68580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17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0" y="2121408"/>
            <a:ext cx="77724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50592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450592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2450592"/>
            <a:ext cx="11887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Heavy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2450592"/>
            <a:ext cx="68580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450592"/>
            <a:ext cx="68580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7760" y="2450592"/>
            <a:ext cx="7772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779776"/>
            <a:ext cx="100584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2779776"/>
            <a:ext cx="100584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2779776"/>
            <a:ext cx="118872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Empty ref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2779776"/>
            <a:ext cx="68580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2779776"/>
            <a:ext cx="68580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257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7760" y="2779776"/>
            <a:ext cx="77724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257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108960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0" y="3108960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7440" y="3108960"/>
            <a:ext cx="11887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Partial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3108960"/>
            <a:ext cx="68580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120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3108960"/>
            <a:ext cx="68580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137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0" y="3108960"/>
            <a:ext cx="7772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438144"/>
            <a:ext cx="100584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71600" y="3438144"/>
            <a:ext cx="100584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UFPR04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77440" y="3438144"/>
            <a:ext cx="118872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Heavy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66160" y="3438144"/>
            <a:ext cx="68580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3438144"/>
            <a:ext cx="68580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45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37760" y="3438144"/>
            <a:ext cx="777240" cy="329184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3977639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• Fundamental challenge: edge/σ distributions of empty textured spaces and low-contrast cars overlap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4507991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• Canny(30,90) tested — empty-space max rose from 127→234, requiring threshold 244 (too high)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5038343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• Dual-signal OR logic improves recall without increasing false positives on calibration image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568695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• Remaining errors are irreducible without a background reference or learned classifier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Automatic ROI detection via Hough line transform — no manual tracing for new 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Background subtraction using registered empty-lot reference — eliminate shadow false positives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Live video mode using cv::VideoCapture — real-time occupancy monitoring with FPS display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Lightweight ML classifier (SVM + HOG features) — higher accuracy ceiling than threshold-based approach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